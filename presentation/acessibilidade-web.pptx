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8229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HTML semântico ao ARIA: o que designer, dev e QA precisam saber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57600" y="3840480"/>
            <a:ext cx="1828800" cy="0"/>
          </a:xfrm>
          <a:prstGeom prst="line">
            <a:avLst/>
          </a:prstGeom>
          <a:noFill/>
          <a:ln w="19050">
            <a:solidFill>
              <a:srgbClr val="E8C5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WEEKLY · 30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PARADOXO DO ARIA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82,7%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páginas da web usam ARIA hoje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0" y="2834640"/>
            <a:ext cx="914400" cy="0"/>
          </a:xfrm>
          <a:prstGeom prst="line">
            <a:avLst/>
          </a:prstGeom>
          <a:noFill/>
          <a:ln w="12700">
            <a:solidFill>
              <a:srgbClr val="E8C5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páginas com ARIA têm em média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MAIS ERROS de acessibilidade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páginas sem ARIA.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WebAIM Million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457200" y="1554480"/>
            <a:ext cx="2679192" cy="23774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554480"/>
            <a:ext cx="73152" cy="237744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73736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18,6M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85800" y="260604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brasileiros com algum tipo de deficiência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520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IBGE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27832" y="1554480"/>
            <a:ext cx="2679192" cy="23774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7832" y="1554480"/>
            <a:ext cx="73152" cy="237744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56432" y="173736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94,8%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3456432" y="260604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páginas top no mundo falham em WCAG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456432" y="3520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WebAIM Million 2025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98464" y="1554480"/>
            <a:ext cx="2679192" cy="23774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98464" y="1554480"/>
            <a:ext cx="73152" cy="237744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27064" y="1737360"/>
            <a:ext cx="2404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LBI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6227064" y="2606040"/>
            <a:ext cx="2313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13.146/2015 exige acessibilidade digital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27064" y="352044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não é feature extra. É obrigação legal, alcance de mercado e qualidade técnica.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SEMÂNTICO · 1 DE 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semântico resolve 70% dos problemas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elemento correto traz acessibilidade de fábrica: foco, teclado, leitor de tela.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— div como botão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3931920" cy="2103120"/>
          </a:xfrm>
          <a:prstGeom prst="rect">
            <a:avLst/>
          </a:prstGeom>
          <a:solidFill>
            <a:srgbClr val="3D141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194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class="btn"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onClick={handleClick}&gt;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Salvar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— botão nativo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057400"/>
            <a:ext cx="3931920" cy="2103120"/>
          </a:xfrm>
          <a:prstGeom prst="rect">
            <a:avLst/>
          </a:prstGeom>
          <a:solidFill>
            <a:srgbClr val="0F3D2E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19456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type="button"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onClick={handleClick}&gt;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Salvar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pPr algn="ctr" indent="0" marL="0">
              <a:buNone/>
            </a:pPr>
            <a:r>
              <a:rPr lang="en-US" sz="1300" b="1" dirty="0">
                <a:solidFill>
                  <a:srgbClr val="06A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pPr algn="ctr"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já vem com: foco visível, ativável por teclado (Espaço/Enter), anunciado como botão pelo leitor de tela.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SEMÂNTICO · 2 DE 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e hierarquia de cabeçalhos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nativos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leitor de tela lista as regiões e pula direto. Use HTML — não precisa de role.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39319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14884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banner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navigation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main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complementary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contentinfo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 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region (com label)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de cabeçalhos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5488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h1 por página. Não pule níveis ao descer (h2 → h4 quebra).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2011680"/>
            <a:ext cx="3931920" cy="228600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2103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4068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principal da página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120640" y="2514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62356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303520" y="2926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06440" y="2953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Sub-seção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3429000"/>
            <a:ext cx="35661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58444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40680" y="350215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páginas pulam níveis;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16,3% </a:t>
            </a:r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têm múltiplos h1.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SEMÂNTICO · 3 DE 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tag semântica usar?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Inspirado no flowchart do HTML5 Doctor. Percorra as perguntas — a primeira que for SIM define a tag.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484632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00200"/>
            <a:ext cx="54864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16002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de página ou seção (logo, nav, título)?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349240" y="1600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766560" y="1600200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1600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1965960"/>
            <a:ext cx="484632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1965960"/>
            <a:ext cx="54864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1792" y="19659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principal de navegação (links de menu)?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49240" y="1965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1965960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2331720"/>
            <a:ext cx="484632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2331720"/>
            <a:ext cx="54864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1792" y="23317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principal único da página?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49240" y="23317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766560" y="2331720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766560" y="23317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7200" y="2697480"/>
            <a:ext cx="484632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7200" y="2697480"/>
            <a:ext cx="54864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21792" y="269748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autocontido, faz sentido fora desta página?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349240" y="2697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766560" y="2697480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76656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7200" y="3063240"/>
            <a:ext cx="484632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063240"/>
            <a:ext cx="54864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1792" y="30632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tangencial, relacionada mas opcional?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349240" y="306324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766560" y="3063240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766560" y="3063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7200" y="3429000"/>
            <a:ext cx="484632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7200" y="3429000"/>
            <a:ext cx="54864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1792" y="34290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temático com heading próprio?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349240" y="34290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766560" y="3429000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766560" y="3429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457200" y="3794760"/>
            <a:ext cx="4846320" cy="320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" y="3794760"/>
            <a:ext cx="54864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1792" y="3794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com info de contato, copyright, links secundários?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5349240" y="37947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6A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→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6766560" y="3794760"/>
            <a:ext cx="1920240" cy="320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76656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457200" y="4160520"/>
            <a:ext cx="4846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49" name="Text 46"/>
          <p:cNvSpPr/>
          <p:nvPr/>
        </p:nvSpPr>
        <p:spPr>
          <a:xfrm>
            <a:off x="621792" y="416052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NADA acima se aplica → apenas para layout/estilização: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5349240" y="41605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6766560" y="4160520"/>
            <a:ext cx="1920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dash"/>
          </a:ln>
        </p:spPr>
      </p:sp>
      <p:sp>
        <p:nvSpPr>
          <p:cNvPr id="52" name="Text 49"/>
          <p:cNvSpPr/>
          <p:nvPr/>
        </p:nvSpPr>
        <p:spPr>
          <a:xfrm>
            <a:off x="676656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300" dirty="0"/>
          </a:p>
        </p:txBody>
      </p:sp>
      <p:sp>
        <p:nvSpPr>
          <p:cNvPr id="53" name="Text 50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SEMÂNTICO · 4 DE 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e skip link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input precisa de label associado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1640"/>
            <a:ext cx="201168" cy="20116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1520" y="1645920"/>
            <a:ext cx="3657600" cy="548640"/>
          </a:xfrm>
          <a:prstGeom prst="rect">
            <a:avLst/>
          </a:prstGeom>
          <a:solidFill>
            <a:srgbClr val="3D141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1691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placeholder="Email" /&gt;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23160"/>
            <a:ext cx="201168" cy="20116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1520" y="2377440"/>
            <a:ext cx="3657600" cy="777240"/>
          </a:xfrm>
          <a:prstGeom prst="rect">
            <a:avLst/>
          </a:prstGeom>
          <a:solidFill>
            <a:srgbClr val="0F3D2E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868680" y="2423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for="email"&gt;Email&lt;/label&gt;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id="email"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type="email" /&gt;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57200" y="3291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não substitui label.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754880" y="1280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link: 5 linhas que salvam horas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754880" y="1645920"/>
            <a:ext cx="39319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937760" y="1755648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href="#main"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class="skip-link"&gt;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Pular para o conteúdo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&lt;/a&gt;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 id="main"&gt;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3383280"/>
            <a:ext cx="3931920" cy="777240"/>
          </a:xfrm>
          <a:prstGeom prst="rect">
            <a:avLst/>
          </a:prstGeom>
          <a:solidFill>
            <a:srgbClr val="F8F9FA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892040" y="34564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13,7%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5989320" y="345643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páginas têm skip link funcionando.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Deveria ser 100%.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Mensagem-chave: se um HTML nativo já resolve, ARIA é desnecessário.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· WCAG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fundações da acessibilidade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organiza tudo em quatro princípios. ARIA e HTML semântico existem para atender o último — o 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4023360" cy="1463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45920"/>
            <a:ext cx="91440" cy="146304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7830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155448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554480" y="2121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Perceptível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5448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precisa ser perceptível pelos sentidos.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54480" y="2761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4.5:1 · alt em imagens · legenda em vídeo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1645920"/>
            <a:ext cx="4023360" cy="1463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1645920"/>
            <a:ext cx="91440" cy="146304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17830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6400" dirty="0"/>
          </a:p>
        </p:txBody>
      </p:sp>
      <p:sp>
        <p:nvSpPr>
          <p:cNvPr id="16" name="Text 13"/>
          <p:cNvSpPr/>
          <p:nvPr/>
        </p:nvSpPr>
        <p:spPr>
          <a:xfrm>
            <a:off x="576072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760720" y="21214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Operável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760720" y="2423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inteira navegável e ativável.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60720" y="27614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Teclado · foco visível · sem tempo limite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3246120"/>
            <a:ext cx="4023360" cy="1463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3246120"/>
            <a:ext cx="91440" cy="146304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4360" y="33832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6400" dirty="0"/>
          </a:p>
        </p:txBody>
      </p:sp>
      <p:sp>
        <p:nvSpPr>
          <p:cNvPr id="23" name="Text 20"/>
          <p:cNvSpPr/>
          <p:nvPr/>
        </p:nvSpPr>
        <p:spPr>
          <a:xfrm>
            <a:off x="1554480" y="3410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55448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Compreensível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55448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e operação precisam fazer sentido.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554480" y="43616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claro · comportamento previsível · erro útil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663440" y="3246120"/>
            <a:ext cx="4023360" cy="146304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663440" y="3246120"/>
            <a:ext cx="91440" cy="146304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00600" y="3383280"/>
            <a:ext cx="914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6400" dirty="0"/>
          </a:p>
        </p:txBody>
      </p:sp>
      <p:sp>
        <p:nvSpPr>
          <p:cNvPr id="30" name="Text 27"/>
          <p:cNvSpPr/>
          <p:nvPr/>
        </p:nvSpPr>
        <p:spPr>
          <a:xfrm>
            <a:off x="5760720" y="34107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576072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76072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funciona com diversas tecnologias.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760720" y="43616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semântico · ARIA correto · padrões web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vamos discutir cabe em um desses quatro. Acessibilidade é POUR, não receita aleatória.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· FUNDAMENTOS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 ARIA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tem três tipos de atributos. Saber qual usar quando é metade da batalha.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00200"/>
            <a:ext cx="2679192" cy="45720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00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37744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função semântica do elemento na árvore de acessibilidade.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301752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role="dialog"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role="tablist"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role="button"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role="alert"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3886200"/>
            <a:ext cx="2679192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3931920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role="dialog"</a:t>
            </a:r>
            <a:pPr indent="0" marL="0">
              <a:lnSpc>
                <a:spcPts val="1100"/>
              </a:lnSpc>
              <a:buNone/>
            </a:pP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aria-modal="true"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100"/>
              </a:lnSpc>
              <a:buNone/>
            </a:pP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Confirmar exclusão</a:t>
            </a:r>
            <a:pPr indent="0" marL="0">
              <a:lnSpc>
                <a:spcPts val="1100"/>
              </a:lnSpc>
              <a:buNone/>
            </a:pP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94360" y="4663440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diálogo modal.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27832" y="1600200"/>
            <a:ext cx="2679192" cy="45720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600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227832" y="210312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ESTÁ agora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64992" y="237744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Reflete o estado atual da interação. Muda dinamicamente conforme o uso.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64992" y="301752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aria-expanded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aria-checked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aria-disabled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aria-hidden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27832" y="3886200"/>
            <a:ext cx="2679192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19272" y="3931920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aria-expanded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="false"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100"/>
              </a:lnSpc>
              <a:buNone/>
            </a:pP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Detalhes do pedido</a:t>
            </a:r>
            <a:pPr indent="0" marL="0">
              <a:lnSpc>
                <a:spcPts val="1100"/>
              </a:lnSpc>
              <a:buNone/>
            </a:pP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364992" y="4663440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fechado.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98464" y="1600200"/>
            <a:ext cx="2679192" cy="45720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98464" y="1600200"/>
            <a:ext cx="2679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998464" y="2103120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35624" y="2377440"/>
            <a:ext cx="2404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Descreve características do elemento. Mais estável; muda raramente.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135624" y="3017520"/>
            <a:ext cx="2404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aria-labelledby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aria-required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F2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aria-haspopup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998464" y="3886200"/>
            <a:ext cx="2679192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9904" y="3931920"/>
            <a:ext cx="2496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aria-label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="Fechar"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100"/>
              </a:lnSpc>
              <a:buNone/>
            </a:pP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&lt;svg 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aria-hidden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="true"</a:t>
            </a:r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&gt;...&lt;/svg&gt;</a:t>
            </a:r>
            <a:pPr indent="0" marL="0">
              <a:lnSpc>
                <a:spcPts val="1100"/>
              </a:lnSpc>
              <a:buNone/>
            </a:pPr>
            <a:endParaRPr lang="en-US" sz="8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35624" y="4663440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acessível: "Fechar".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REGRAS DO ARIA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Especificação oficial W3C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502920" cy="50292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459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HTML nativo quando existir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221992"/>
            <a:ext cx="502920" cy="50292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21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sobrescreva semântica nativa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2798064"/>
            <a:ext cx="502920" cy="50292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98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279806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ARIA precisam funcionar com teclado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374136"/>
            <a:ext cx="502920" cy="50292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74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37413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esconda elementos focáveis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" y="3950208"/>
            <a:ext cx="502920" cy="50292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3950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elemento interativo precisa de nome acessível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ARIA is better than bad ARIA"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1 DE 5 · ARIA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existe um elemento HTML nativo, use-o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848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3931920" cy="2468880"/>
          </a:xfrm>
          <a:prstGeom prst="rect">
            <a:avLst/>
          </a:prstGeom>
          <a:solidFill>
            <a:srgbClr val="3D141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role="button"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tabindex="0"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onClick={salvar}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onKeyDown={handleKey}&gt;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Salvar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1848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920240"/>
            <a:ext cx="3931920" cy="2468880"/>
          </a:xfrm>
          <a:prstGeom prst="rect">
            <a:avLst/>
          </a:prstGeom>
          <a:solidFill>
            <a:srgbClr val="0F3D2E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3776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type="button"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onClick={salvar}&gt;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Salvar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precisa reimplementar foco, teclado e role. O HTML já fez isso.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2 DE 5 · ARIA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sobrescreva a semântica nativa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848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3931920" cy="2468880"/>
          </a:xfrm>
          <a:prstGeom prst="rect">
            <a:avLst/>
          </a:prstGeom>
          <a:solidFill>
            <a:srgbClr val="3D141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&lt;ul role="navigation"&gt;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&lt;li&gt;&lt;a href="/"&gt;Home&lt;/a&gt;&lt;/li&gt;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&lt;li&gt;&lt;a&gt;...&lt;/a&gt;&lt;/li&gt;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&lt;/ul&gt;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Perde semântica de lista.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1848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920240"/>
            <a:ext cx="3931920" cy="2468880"/>
          </a:xfrm>
          <a:prstGeom prst="rect">
            <a:avLst/>
          </a:prstGeom>
          <a:solidFill>
            <a:srgbClr val="0F3D2E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3776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&lt;ul&gt;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&lt;li&gt;&lt;a href="/"&gt;Home&lt;/a&gt;&lt;/li&gt;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&lt;li&gt;&lt;a&gt;...&lt;/a&gt;&lt;/li&gt;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&lt;/ul&gt;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&lt;/nav&gt;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role em elemento semântico apaga a semântica original. Envolva, não substitua.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3 DE 5 · ARIA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ARIA precisam funcionar com teclado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848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3931920" cy="2468880"/>
          </a:xfrm>
          <a:prstGeom prst="rect">
            <a:avLst/>
          </a:prstGeom>
          <a:solidFill>
            <a:srgbClr val="3D141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role="button"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tabindex="0"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onClick={open}&gt;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Abrir modal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Mouse OK. Teclado: ❌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1848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920240"/>
            <a:ext cx="3931920" cy="2468880"/>
          </a:xfrm>
          <a:prstGeom prst="rect">
            <a:avLst/>
          </a:prstGeom>
          <a:solidFill>
            <a:srgbClr val="0F3D2E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3776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role="button"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tabindex="0"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onClick={open}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onKeyDown={e =&gt;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['Enter',' '].includes(e.key)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&amp;&amp; open()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}&gt;Abrir modal&lt;/div&gt;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ainda: use &lt;button&gt; ou um componente headless (Radix, React Aria).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4 DE 5 · ARIA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esconda elementos focáveis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848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3931920" cy="2468880"/>
          </a:xfrm>
          <a:prstGeom prst="rect">
            <a:avLst/>
          </a:prstGeom>
          <a:solidFill>
            <a:srgbClr val="3D141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aria-hidden="true"&gt;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Visível por teclado,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invisível pro leitor.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Confusão total.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1848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920240"/>
            <a:ext cx="3931920" cy="2468880"/>
          </a:xfrm>
          <a:prstGeom prst="rect">
            <a:avLst/>
          </a:prstGeom>
          <a:solidFill>
            <a:srgbClr val="0F3D2E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3776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Fechar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aria-hidden só é válido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em itens decorativos ou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fora do fluxo de Tab.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pessoa pode chegar no elemento com Tab, o leitor de tela precisa anunciá-lo.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2608" cy="292608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41248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5 DE 5 · ARIA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elemento interativo precisa de nome acessível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1848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920240"/>
            <a:ext cx="3931920" cy="2468880"/>
          </a:xfrm>
          <a:prstGeom prst="rect">
            <a:avLst/>
          </a:prstGeom>
          <a:solidFill>
            <a:srgbClr val="3D141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&lt;svg&gt;...&lt;/svg&gt;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Leitor de tela anuncia: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"botão" — sem dizer o quê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3657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61848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920240"/>
            <a:ext cx="3931920" cy="2468880"/>
          </a:xfrm>
          <a:prstGeom prst="rect">
            <a:avLst/>
          </a:prstGeom>
          <a:solidFill>
            <a:srgbClr val="0F3D2E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93776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aria-label="Fechar"&gt;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&lt;svg aria-hidden="true"&gt;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&lt;/svg&gt;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"botão, Fechar" ✓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 decorativo dentro? aria-hidden. Botão sem texto? aria-label. Nunca os dois sem nada.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6 erros que dominam a web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de todos os erros de acessibilidade caem nestas seis categorias. WebAIM Million 2025.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679192" cy="14173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508760"/>
            <a:ext cx="54864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60020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79,1%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210312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com baixo contraste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&lt; 4.5:1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27832" y="1508760"/>
            <a:ext cx="2679192" cy="14173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27832" y="1508760"/>
            <a:ext cx="54864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10712" y="160020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55,5%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410712" y="210312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 sem alt text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10712" y="251460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alt mal escrito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98464" y="1508760"/>
            <a:ext cx="2679192" cy="14173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98464" y="1508760"/>
            <a:ext cx="54864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81344" y="160020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48,2%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181344" y="210312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de formulário faltando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81344" y="251460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sem &lt;label&gt;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017520"/>
            <a:ext cx="2679192" cy="14173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7200" y="3017520"/>
            <a:ext cx="54864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310896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45,4%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40080" y="361188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vazios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40233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texto descritivo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227832" y="3017520"/>
            <a:ext cx="2679192" cy="14173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27832" y="3017520"/>
            <a:ext cx="54864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10712" y="310896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29,4%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3410712" y="361188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vazios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410712" y="40233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ícone, sem nome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98464" y="3017520"/>
            <a:ext cx="2679192" cy="141732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998464" y="3017520"/>
            <a:ext cx="54864" cy="1417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181344" y="310896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6181344" y="361188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não declarado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181344" y="40233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lang="pt-BR"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SÓ estes seis tipos já melhora drasticamente a web.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VISÍVEL · 1 DE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é o cursor do teclado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2.4.7 (Nível A): toda interface operável por teclado deve mostrar onde está o foco.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ERRO CLÁSSICO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3931920" cy="1371600"/>
          </a:xfrm>
          <a:prstGeom prst="rect">
            <a:avLst/>
          </a:prstGeom>
          <a:solidFill>
            <a:srgbClr val="3D1414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194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Nunca faça isso */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*:focus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outline: none;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MODERNA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2057400"/>
            <a:ext cx="3931920" cy="1371600"/>
          </a:xfrm>
          <a:prstGeom prst="rect">
            <a:avLst/>
          </a:prstGeom>
          <a:solidFill>
            <a:srgbClr val="0F3D2E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37760" y="2194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Foco só no teclado */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:focus-visible {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outline: 2px solid #06f;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outline-offset: 2px;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703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mínimos do indicador (WCAG 2.2)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9776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2px CSS de espessura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contraste de 3:1 contra o elemento e o fundo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ser totalmente coberto (sticky headers/footers — WCAG 2.4.11 AA)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VISÍVEL · 2 DE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foco em modais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mais se erra. As três regras inegociáveis: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25880" y="1691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abrir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25880" y="20574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foco para dentro do modal (primeiro elemento interativo ou o heading com tabindex="-1").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32588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aberto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325880" y="2926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Trapar o Tab dentro do modal. O foco não pode escapar para o resto da página.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520440"/>
            <a:ext cx="502920" cy="502920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325880" y="3429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fechar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325880" y="3794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Devolver foco ao elemento que abriu o modal (geralmente o botão).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F8F9FA"/>
          </a:solidFill>
          <a:ln w="12700">
            <a:solidFill>
              <a:srgbClr val="E8C547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41655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60120" y="43434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reimplemente isso. Use Radix UI, React Aria ou Headless UI — resolvem foco, teclado e ARIA de fábrica.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E COR · 1 DE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Contraste: os números que importam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1.4.3 e 1.4.11 (Nível AA). Não são números arbitrários — são baseados em fisiologia.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2679192" cy="1463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8288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4.5:1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51460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normal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280720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18pt ou &lt; 14pt bold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27832" y="1691640"/>
            <a:ext cx="2679192" cy="1463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27832" y="18288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227832" y="251460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grande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27832" y="280720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18pt ou ≥ 14pt bold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98464" y="1691640"/>
            <a:ext cx="2679192" cy="1463040"/>
          </a:xfrm>
          <a:prstGeom prst="rect">
            <a:avLst/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98464" y="1828800"/>
            <a:ext cx="2679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5998464" y="2514600"/>
            <a:ext cx="2679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 gráficos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998464" y="2807208"/>
            <a:ext cx="2679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Bordas, ícones, foco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383280"/>
            <a:ext cx="73152" cy="109728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4.5:1?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3794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razão compensa a perda de sensibilidade ao contraste equivalente a visão 20/40 — comum em pessoas com cerca de 80 anos. (Fonte: W3C Understanding 1.4.3)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201168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980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E COR · 2 DE 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não pode ser o único meio de informação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1.4.1 (Nível A). Pessoas com daltonismo, baixa visão ou contexto adverso não distinguem só pela cor.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3931920" cy="155448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35661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teste@invalido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Inválido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cor diz que tem erro.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solidFill>
            <a:srgbClr val="06A77D"/>
          </a:solidFill>
          <a:ln w="12700">
            <a:solidFill>
              <a:srgbClr val="06A77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2057400"/>
            <a:ext cx="3931920" cy="1554480"/>
          </a:xfrm>
          <a:prstGeom prst="rect">
            <a:avLst/>
          </a:prstGeom>
          <a:solidFill>
            <a:srgbClr val="F8F9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937760" y="2514600"/>
            <a:ext cx="356616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74920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teste@invalido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017520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166360" y="29900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Erro: formato de email inválido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937760" y="3291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Ícone + texto + cor. Funciona pra qualquer pessoa.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simples: cor + texto + forma. Sempre os três, nunca só a cor.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Lembrete: 79,1% das páginas falham em contraste. O erro mais comum da web.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29600" y="48006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457200"/>
            <a:ext cx="731520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2697480"/>
            <a:ext cx="7680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PARA APROFUNDAR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310896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oficial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w3.org/TR/WCAG22/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WebAIM — Introduction to ARIA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webaim.org/techniques/aria/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WebAIM Million 2026 (dados)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webaim.org/projects/million/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Accessibility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developer.mozilla.org/docs/Web/Accessibility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 Soueidan — Focus Indicators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sarasoueidan.com/blog/focus-indicators/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Acessibilidade na Web · Tech Weekly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Acessibilidade na Web</dc:title>
  <dc:subject>PptxGenJS Presentation</dc:subject>
  <dc:creator>Tech Weekly</dc:creator>
  <cp:lastModifiedBy>Tech Weekly</cp:lastModifiedBy>
  <cp:revision>1</cp:revision>
  <dcterms:created xsi:type="dcterms:W3CDTF">2026-05-14T02:33:49Z</dcterms:created>
  <dcterms:modified xsi:type="dcterms:W3CDTF">2026-05-14T02:33:49Z</dcterms:modified>
</cp:coreProperties>
</file>